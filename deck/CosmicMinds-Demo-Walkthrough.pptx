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Intro. Cosmic Minds is a voice-driven AI tutor I built for my seven-year-old: five 'teacher' agents for Math, Reading, Science, Art and Feelings. The interesting part isn't the app - it's HOW it's built: spec-first, with a hard safety gate, using the FORGE lifecycle and Google Antigravity. That's what this walkthrough is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roadmap: the safety problem, the four building blocks, the architecture, three real interaction moments, how the evals prove it, the spec kit that Antigravity builds from, and an honest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thing people underestimate: building an AI tutor for a kid is mostly a safety problem, not an AI problem. Three traps: the model can be confidently wrong and the child can't tell; a child might disclose something serious and the app must NOT try to counsel; and kids' apps hoover up data, which is exactly what the law restricts. Cosmic Minds answers all three by putting safety in code, not in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capstone concepts, and each has a number that sticks. Six agents: one orchestrator plus five teachers. Five MCP tool servers. Seven agent skills that load only when needed. And three safety layers stacked on every single reply. Hold those four numbers - the rest of the talk hangs off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app is one guarded pipeline: push-to-talk in, orchestrator routes to exactly one teacher, that teacher drafts a reply, the safety gate checks it, and only then does it become voice plus subtitles. Under it sit MCP tools - safety, math-verify, transcripts. And notice the purple card: a plain phrase list runs BEFORE any model, so the clearest crisis signals escalate with certainty, not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one is correctness. The child tries to trick it - is two plus two five? The model might go along. But math-verify runs first and returns four, and the verifier wins, always. The child hears four. No unverified number ever reaches a kid.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two is routing discipline. A reading teacher shouldn't answer a physics question. The orchestrator catches the off-topic ask and Ollie redirects in one line to Luna - no wrong-teacher answer, no confusion. Small thing, but it's what keeps five specialists from turning into five generalists.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three is the one that matters most, and I built it first, not last. If a child says something that signals distress, the system does not counsel and does not probe. It stops, says one scripted line pointing the child to a trusted grown-up, and flags the parent with a crisis resource. This path is enforced in code and required to fire every time - it's the whole reason the project is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Proof, not vibes. Every behavior is pinned by an eval written before the code - thirty-five cases across six sets. Routing has to clear ninety percent. Numbers are verified. The safety gate fires on a hundred percent of replies. Coach Kai's distress path has to escalate every time across repeated runs, with a human reviewing. And no child data leaks. Green evals are the ship gate - a working demo isn't.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meta-lesson: don't one-shot a child-safety app - nobody should. I wrote the specs, skills, tool contracts, evalsets and a crisis lexicon FIRST, then handed that kit to Antigravity to build feature-by-feature, each feature gated by a FORGE phase: Frame, Orchestrate, Render, Guard, Evaluate. Generation is the easy part now; the specs and evals are the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Wrap-up. Five teachers as ADK sub-agents make one tutor that flexes by subject. Safety lives in code, gating every reply. It's spec-first, so Antigravity builds from specs and evals. And the honest bit: this is a supervised prototype for one child, not a commercial product - the compliance work for that is a whole other phase. Subscribe ask + thanks go here in the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60920" y="658368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BUILD WALKTHROUGH  •  ~9 MIN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2344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Cosmic Minds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1488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safety-first AI tutor for a 7-year-old — five teacher agents, built spec-first with the FORGE lifecycle and Google Antigravity.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241C6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2461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14600" y="32461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241C63"/>
          </a:solidFill>
          <a:ln/>
        </p:spPr>
      </p:sp>
      <p:sp>
        <p:nvSpPr>
          <p:cNvPr id="9" name="Text 6"/>
          <p:cNvSpPr/>
          <p:nvPr/>
        </p:nvSpPr>
        <p:spPr>
          <a:xfrm>
            <a:off x="2514600" y="32461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324612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41C63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32461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062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" y="4187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420624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24328" y="4187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420624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24528" y="4187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206240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24728" y="4187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206240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24928" y="4187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188720"/>
            <a:ext cx="384048" cy="384048"/>
          </a:xfrm>
          <a:prstGeom prst="ellipse">
            <a:avLst/>
          </a:prstGeom>
          <a:solidFill>
            <a:srgbClr val="0B0A2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14300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Solution   </a:t>
            </a:r>
            <a:pPr indent="0" marL="0">
              <a:buNone/>
            </a:pPr>
            <a:r>
              <a:rPr lang="en-US" sz="12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AI tutor for a child is mostly a safety problem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1700784"/>
            <a:ext cx="384048" cy="384048"/>
          </a:xfrm>
          <a:prstGeom prst="ellipse">
            <a:avLst/>
          </a:prstGeom>
          <a:solidFill>
            <a:srgbClr val="0B0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5506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  </a:t>
            </a:r>
            <a:pPr indent="0" marL="0">
              <a:buNone/>
            </a:pPr>
            <a:r>
              <a:rPr lang="en-US" sz="12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 MCP tools, Agent Skills, and the safety gate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384048" cy="384048"/>
          </a:xfrm>
          <a:prstGeom prst="ellipse">
            <a:avLst/>
          </a:prstGeom>
          <a:solidFill>
            <a:srgbClr val="0B0A2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6712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  </a:t>
            </a:r>
            <a:pPr indent="0" marL="0">
              <a:buNone/>
            </a:pPr>
            <a:r>
              <a:rPr lang="en-US" sz="12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orchestrator, five teacher sub-agents, one guarded pipeline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2724912"/>
            <a:ext cx="384048" cy="384048"/>
          </a:xfrm>
          <a:prstGeom prst="ellipse">
            <a:avLst/>
          </a:prstGeom>
          <a:solidFill>
            <a:srgbClr val="0B0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7919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Moments   </a:t>
            </a:r>
            <a:pPr indent="0" marL="0">
              <a:buNone/>
            </a:pPr>
            <a:r>
              <a:rPr lang="en-US" sz="12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answer, a gentle redirect, and the safety path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236976"/>
            <a:ext cx="384048" cy="384048"/>
          </a:xfrm>
          <a:prstGeom prst="ellipse">
            <a:avLst/>
          </a:prstGeom>
          <a:solidFill>
            <a:srgbClr val="0B0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19125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Prove It   </a:t>
            </a:r>
            <a:pPr indent="0" marL="0">
              <a:buNone/>
            </a:pPr>
            <a:r>
              <a:rPr lang="en-US" sz="12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written before the code — correctness and safety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3749040"/>
            <a:ext cx="384048" cy="384048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70332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Spec-First   </a:t>
            </a:r>
            <a:pPr indent="0" marL="0">
              <a:buNone/>
            </a:pPr>
            <a:r>
              <a:rPr lang="en-US" sz="12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 that hands straight to Antigravity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4360" y="4261104"/>
            <a:ext cx="384048" cy="384048"/>
          </a:xfrm>
          <a:prstGeom prst="ellipse">
            <a:avLst/>
          </a:prstGeom>
          <a:solidFill>
            <a:srgbClr val="0B0A2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21538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  </a:t>
            </a:r>
            <a:pPr indent="0" marL="0">
              <a:buNone/>
            </a:pPr>
            <a:r>
              <a:rPr lang="en-US" sz="12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 today, and what's deliberately not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680960" y="1463040"/>
            <a:ext cx="960120" cy="960120"/>
          </a:xfrm>
          <a:prstGeom prst="roundRect">
            <a:avLst>
              <a:gd name="adj" fmla="val 14286"/>
            </a:avLst>
          </a:prstGeom>
          <a:solidFill>
            <a:srgbClr val="EEF0F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6916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→ 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for a child changes the rules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9222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81912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can hallucinate a wrong answer…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a 7-year-old can't catch it.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4378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33472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might say something worrying…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a chatbot shouldn't play therapist.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6118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9534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685032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Kids' apps collect data by default…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…which is exactly what child-privacy law restricts.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892040" y="1051560"/>
            <a:ext cx="3703320" cy="3611880"/>
          </a:xfrm>
          <a:prstGeom prst="roundRect">
            <a:avLst>
              <a:gd name="adj" fmla="val 2532"/>
            </a:avLst>
          </a:prstGeom>
          <a:solidFill>
            <a:srgbClr val="0B0A2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37160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5216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Cosmic Minds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5212080" y="20574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specialist teacher agents a child talks to by voice.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 code, not vibes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reply passes a gate before the child hears it; numbers are verified first.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spec-first with FORGE, so the agent builds from specs and evals — not guesses.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Building Blocks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5727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8529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20040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orchestrator routes to five teacher sub-agents — an ADK multi-agent system.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5727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2743200" y="28529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788920" y="320040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math-verify, tts, transcripts, progress — tools consumed over MCP.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94960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5727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4846320" y="28529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892040" y="320040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teacher skills plus child-safety and math-verify, loaded on demand.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58000" y="1143000"/>
            <a:ext cx="1920240" cy="3429000"/>
          </a:xfrm>
          <a:prstGeom prst="roundRect">
            <a:avLst>
              <a:gd name="adj" fmla="val 4762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0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57276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0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5" name="Text 19"/>
          <p:cNvSpPr/>
          <p:nvPr/>
        </p:nvSpPr>
        <p:spPr>
          <a:xfrm>
            <a:off x="6949440" y="28529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995160" y="320040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+ classifier + built-in filters — layered, on every reply.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Guarded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EEF0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98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Push-to-Talk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664208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holds mic, speaks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93392" y="16276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FD9"/>
                </a:solidFill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18872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EEF0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298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13432" y="1664208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one teacher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85032" y="16276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FD9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18872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EEF0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1298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05072" y="1664208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skill drafts a reply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76672" y="16276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FD9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18872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EEF0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23560" y="1298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Gate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96712" y="1664208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+ classifier check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68312" y="16276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FD9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118872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0B0A2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298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88352" y="1664208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it + live subtitles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plane (MCP)</a:t>
            </a:r>
            <a:endParaRPr lang="en-US" sz="15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145536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30632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safety.classify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Moderates every reply; a distress verdict triggers escalation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730752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60120" y="36484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math.verify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number before it is ever spoken</a:t>
            </a:r>
            <a:endParaRPr lang="en-US" sz="1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15968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60120" y="423367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the parent can review and clear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897880" y="306324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3EE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310128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7512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lexicon runs first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6172200" y="37673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phrase list checks the child's words before any model — instant escalation, can't be argued out of 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9260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1  •  MATH · PROFESSOR PI</a:t>
            </a:r>
            <a:endParaRPr lang="en-US" sz="1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Verified Answer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989320" y="384048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EAF5FE"/>
          </a:solidFill>
          <a:ln/>
        </p:spPr>
      </p:sp>
      <p:sp>
        <p:nvSpPr>
          <p:cNvPr id="5" name="Text 2"/>
          <p:cNvSpPr/>
          <p:nvPr/>
        </p:nvSpPr>
        <p:spPr>
          <a:xfrm>
            <a:off x="6126480" y="3840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• age 7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session • push-to-talk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happens, step by step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1801368"/>
            <a:ext cx="365760" cy="365760"/>
          </a:xfrm>
          <a:prstGeom prst="ellipse">
            <a:avLst/>
          </a:prstGeom>
          <a:solidFill>
            <a:srgbClr val="0091EA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2185416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5568" y="17830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Child: “is two plus two five?”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368296"/>
            <a:ext cx="365760" cy="365760"/>
          </a:xfrm>
          <a:prstGeom prst="ellipse">
            <a:avLst/>
          </a:prstGeom>
          <a:solidFill>
            <a:srgbClr val="0091EA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2752344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3500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→ Professor Pi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2935224"/>
            <a:ext cx="365760" cy="365760"/>
          </a:xfrm>
          <a:prstGeom prst="ellipse">
            <a:avLst/>
          </a:prstGeom>
          <a:solidFill>
            <a:srgbClr val="0091EA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935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3319272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291693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math.verify returns 4 (model guessed 5)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" y="3502152"/>
            <a:ext cx="365760" cy="365760"/>
          </a:xfrm>
          <a:prstGeom prst="ellipse">
            <a:avLst/>
          </a:prstGeom>
          <a:solidFill>
            <a:srgbClr val="0091EA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502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7240" y="3886200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34838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 → allow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4360" y="4069080"/>
            <a:ext cx="365760" cy="365760"/>
          </a:xfrm>
          <a:prstGeom prst="ellipse">
            <a:avLst/>
          </a:prstGeom>
          <a:solidFill>
            <a:srgbClr val="0091EA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15568" y="40507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speaks the correct answer + subtitles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14173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9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4892040" y="2057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17920" y="14173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9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9" name="Text 26"/>
          <p:cNvSpPr/>
          <p:nvPr/>
        </p:nvSpPr>
        <p:spPr>
          <a:xfrm>
            <a:off x="6126480" y="2057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#s spoken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452360" y="14173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9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7360920" y="2057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passed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983480" y="2606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did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983480" y="29260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EAF5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138928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math.verify   </a:t>
            </a:r>
            <a:pPr indent="0" marL="0">
              <a:buNone/>
            </a:pPr>
            <a:r>
              <a:rPr lang="en-US" sz="1150" b="1" dirty="0">
                <a:solidFill>
                  <a:srgbClr val="009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overrode the model: 5 → 4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983480" y="365760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EAF5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138928" y="36576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safety.classify   </a:t>
            </a:r>
            <a:pPr indent="0" marL="0">
              <a:buNone/>
            </a:pPr>
            <a:r>
              <a:rPr lang="en-US" sz="1150" b="1" dirty="0">
                <a:solidFill>
                  <a:srgbClr val="009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before it was spoken</a:t>
            </a:r>
            <a:endParaRPr lang="en-US" sz="115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553712"/>
            <a:ext cx="274320" cy="2743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960120" y="4507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app: hold the mic and ask Professor Pi a sum.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9260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3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2  •  ROUTING · OLLIE THE OWL</a:t>
            </a:r>
            <a:endParaRPr lang="en-US" sz="1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Gentle Redirect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989320" y="384048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3EEFF"/>
          </a:solidFill>
          <a:ln/>
        </p:spPr>
      </p:sp>
      <p:sp>
        <p:nvSpPr>
          <p:cNvPr id="5" name="Text 2"/>
          <p:cNvSpPr/>
          <p:nvPr/>
        </p:nvSpPr>
        <p:spPr>
          <a:xfrm>
            <a:off x="6126480" y="3840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• age 7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session with Ollie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happens, step by step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1801368"/>
            <a:ext cx="365760" cy="365760"/>
          </a:xfrm>
          <a:prstGeom prst="ellipse">
            <a:avLst/>
          </a:prstGeom>
          <a:solidFill>
            <a:srgbClr val="6C3BF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2185416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5568" y="17830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asks Ollie: “why is the sky blue?”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368296"/>
            <a:ext cx="365760" cy="365760"/>
          </a:xfrm>
          <a:prstGeom prst="ellipse">
            <a:avLst/>
          </a:prstGeom>
          <a:solidFill>
            <a:srgbClr val="6C3BF0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2752344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3500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sees it's off-subject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2935224"/>
            <a:ext cx="365760" cy="365760"/>
          </a:xfrm>
          <a:prstGeom prst="ellipse">
            <a:avLst/>
          </a:prstGeom>
          <a:solidFill>
            <a:srgbClr val="6C3BF0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935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3319272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291693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wrong-teacher answer is given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" y="3502152"/>
            <a:ext cx="365760" cy="365760"/>
          </a:xfrm>
          <a:prstGeom prst="ellipse">
            <a:avLst/>
          </a:prstGeom>
          <a:solidFill>
            <a:srgbClr val="6C3BF0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502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7240" y="3886200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34838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Ollie redirects in one warm line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4360" y="4069080"/>
            <a:ext cx="365760" cy="365760"/>
          </a:xfrm>
          <a:prstGeom prst="ellipse">
            <a:avLst/>
          </a:prstGeom>
          <a:solidFill>
            <a:srgbClr val="6C3BF0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15568" y="40507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great one for Luna!”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14173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C3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4892040" y="2057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answers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17920" y="14173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C3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9" name="Text 26"/>
          <p:cNvSpPr/>
          <p:nvPr/>
        </p:nvSpPr>
        <p:spPr>
          <a:xfrm>
            <a:off x="6126480" y="2057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used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452360" y="14173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C3B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7360920" y="2057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983480" y="2606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did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983480" y="29260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3EE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138928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  </a:t>
            </a:r>
            <a:pPr indent="0" marL="0">
              <a:buNone/>
            </a:pPr>
            <a:r>
              <a:rPr lang="en-US" sz="1150" b="1" dirty="0">
                <a:solidFill>
                  <a:srgbClr val="6C3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teacher stays in its lane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983480" y="365760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3EE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138928" y="36576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   </a:t>
            </a:r>
            <a:pPr indent="0" marL="0">
              <a:buNone/>
            </a:pPr>
            <a:r>
              <a:rPr lang="en-US" sz="1150" b="1" dirty="0">
                <a:solidFill>
                  <a:srgbClr val="6C3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the right teacher</a:t>
            </a:r>
            <a:endParaRPr lang="en-US" sz="115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553712"/>
            <a:ext cx="274320" cy="2743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960120" y="4507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app: ask the wrong teacher on purpose — watch the redirect.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9260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3  •  FEELINGS · COACH KAI</a:t>
            </a:r>
            <a:endParaRPr lang="en-US" sz="1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Safety Path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989320" y="384048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EF3E7"/>
          </a:solidFill>
          <a:ln/>
        </p:spPr>
      </p:sp>
      <p:sp>
        <p:nvSpPr>
          <p:cNvPr id="5" name="Text 2"/>
          <p:cNvSpPr/>
          <p:nvPr/>
        </p:nvSpPr>
        <p:spPr>
          <a:xfrm>
            <a:off x="6126480" y="3840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• age 7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Kai is NOT a therapist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happens, step by step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1801368"/>
            <a:ext cx="365760" cy="365760"/>
          </a:xfrm>
          <a:prstGeom prst="ellipse">
            <a:avLst/>
          </a:prstGeom>
          <a:solidFill>
            <a:srgbClr val="E0860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801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2185416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5568" y="17830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says something that signals distress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368296"/>
            <a:ext cx="365760" cy="365760"/>
          </a:xfrm>
          <a:prstGeom prst="ellipse">
            <a:avLst/>
          </a:prstGeom>
          <a:solidFill>
            <a:srgbClr val="E08600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2752344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3500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lexicon → immediate hit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2935224"/>
            <a:ext cx="365760" cy="365760"/>
          </a:xfrm>
          <a:prstGeom prst="ellipse">
            <a:avLst/>
          </a:prstGeom>
          <a:solidFill>
            <a:srgbClr val="E08600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935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3319272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291693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stops — no advice, no probing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" y="3502152"/>
            <a:ext cx="365760" cy="365760"/>
          </a:xfrm>
          <a:prstGeom prst="ellipse">
            <a:avLst/>
          </a:prstGeom>
          <a:solidFill>
            <a:srgbClr val="E08600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502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7240" y="3886200"/>
            <a:ext cx="0" cy="182880"/>
          </a:xfrm>
          <a:prstGeom prst="line">
            <a:avLst/>
          </a:prstGeom>
          <a:noFill/>
          <a:ln w="19050">
            <a:solidFill>
              <a:srgbClr val="C9CC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34838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line: “tell a trusted grown-up”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4360" y="4069080"/>
            <a:ext cx="365760" cy="365760"/>
          </a:xfrm>
          <a:prstGeom prst="ellipse">
            <a:avLst/>
          </a:prstGeom>
          <a:solidFill>
            <a:srgbClr val="E08600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15568" y="40507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notified + 988 resource + logged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14173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4892040" y="2057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17920" y="14173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500" dirty="0"/>
          </a:p>
        </p:txBody>
      </p:sp>
      <p:sp>
        <p:nvSpPr>
          <p:cNvPr id="29" name="Text 26"/>
          <p:cNvSpPr/>
          <p:nvPr/>
        </p:nvSpPr>
        <p:spPr>
          <a:xfrm>
            <a:off x="6126480" y="2057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452360" y="141732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8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7360920" y="2057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given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983480" y="2606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did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983480" y="29260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EF3E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138928" y="29260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safety.classify   </a:t>
            </a:r>
            <a:pPr indent="0" marL="0">
              <a:buNone/>
            </a:pPr>
            <a:r>
              <a:rPr lang="en-US" sz="1150" b="1" dirty="0">
                <a:solidFill>
                  <a:srgbClr val="E0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escalation only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983480" y="365760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EF3E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138928" y="36576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alert   </a:t>
            </a:r>
            <a:pPr indent="0" marL="0">
              <a:buNone/>
            </a:pPr>
            <a:r>
              <a:rPr lang="en-US" sz="1150" b="1" dirty="0">
                <a:solidFill>
                  <a:srgbClr val="E0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 grown-up + logged</a:t>
            </a:r>
            <a:endParaRPr lang="en-US" sz="115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553712"/>
            <a:ext cx="274320" cy="2743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960120" y="4507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Kai hands off to a trusted adult, every time — by design.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0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Prove It — Evals Before Code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6304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261872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Before Code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eval cases across 6 sets — written before the agents (EDD).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10328" y="146304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50408" y="1261872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Teacher, Every Time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routing held to ≥90% accuracy: positive AND negative cases.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377440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265176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706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2450592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Verified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math.verify runs before any answer is spoken — the tool wins, not the model.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709160" y="2377440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10328" y="265176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7063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50408" y="2450592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on Every Reply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fires on 100% of responses. There is no fast path.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49808" y="38404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5935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89888" y="3639312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Path Proven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Kai: 100% escalation across repeated runs, plus human review.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4709160" y="3566160"/>
            <a:ext cx="3931920" cy="1024128"/>
          </a:xfrm>
          <a:prstGeom prst="roundRect">
            <a:avLst>
              <a:gd name="adj" fmla="val 7143"/>
            </a:avLst>
          </a:prstGeom>
          <a:solidFill>
            <a:srgbClr val="F5F6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910328" y="384048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CF5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959352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50408" y="3639312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Child Data Leaks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info echoed or stored; provider keys stay server-side.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Spec-First — Hand It to Antigravity.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one-shots a child-safety app. The whole thing is </a:t>
            </a:r>
            <a:pPr indent="0" marL="0">
              <a:buNone/>
            </a:pPr>
            <a:r>
              <a:rPr lang="en-US" sz="1500" b="1" dirty="0">
                <a:solidFill>
                  <a:srgbClr val="5C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and evals first</a:t>
            </a:r>
            <a:pPr indent="0" marL="0">
              <a:buNone/>
            </a:pPr>
            <a:r>
              <a:rPr lang="en-US" sz="15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Antigravity builds it feature-by-feature, gated by FORGE.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 THAT SHIPS BEFORE ANY CODE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157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+ GEMINI.md — the harness rules the agent always loads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1810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3054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 Skills — 5 teachers + child-safety + math-verify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2044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3456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MCP tool contracts + policies.yaml (structural + semantic gates)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22776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4128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evalsets (35 cases) + the crisis lexicon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2511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4128" y="4261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build-handoff + Antigravity kickoff prompts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40080" y="46817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feature: write the failing eval first, then the smallest code that passes.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5349240" y="118872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141732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0807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FORGE lifecycle</a:t>
            </a:r>
            <a:endParaRPr lang="en-US" sz="1500" dirty="0"/>
          </a:p>
        </p:txBody>
      </p:sp>
      <p:sp>
        <p:nvSpPr>
          <p:cNvPr id="19" name="Shape 11"/>
          <p:cNvSpPr/>
          <p:nvPr/>
        </p:nvSpPr>
        <p:spPr>
          <a:xfrm>
            <a:off x="5623560" y="1965960"/>
            <a:ext cx="402336" cy="402336"/>
          </a:xfrm>
          <a:prstGeom prst="ellipse">
            <a:avLst/>
          </a:prstGeom>
          <a:solidFill>
            <a:srgbClr val="0091EA"/>
          </a:solidFill>
          <a:ln/>
        </p:spPr>
      </p:sp>
      <p:sp>
        <p:nvSpPr>
          <p:cNvPr id="20" name="Text 12"/>
          <p:cNvSpPr/>
          <p:nvPr/>
        </p:nvSpPr>
        <p:spPr>
          <a:xfrm>
            <a:off x="5623560" y="1965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6144768" y="19659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 </a:t>
            </a:r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+ BDD scenarios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5623560" y="2478024"/>
            <a:ext cx="402336" cy="402336"/>
          </a:xfrm>
          <a:prstGeom prst="ellipse">
            <a:avLst/>
          </a:prstGeom>
          <a:solidFill>
            <a:srgbClr val="6C3BF0"/>
          </a:solidFill>
          <a:ln/>
        </p:spPr>
      </p:sp>
      <p:sp>
        <p:nvSpPr>
          <p:cNvPr id="23" name="Text 15"/>
          <p:cNvSpPr/>
          <p:nvPr/>
        </p:nvSpPr>
        <p:spPr>
          <a:xfrm>
            <a:off x="5623560" y="24780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6144768" y="247802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 </a:t>
            </a:r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harness, MCP, skills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5623560" y="2990088"/>
            <a:ext cx="402336" cy="402336"/>
          </a:xfrm>
          <a:prstGeom prst="ellipse">
            <a:avLst/>
          </a:prstGeom>
          <a:solidFill>
            <a:srgbClr val="C2149B"/>
          </a:solidFill>
          <a:ln/>
        </p:spPr>
      </p:sp>
      <p:sp>
        <p:nvSpPr>
          <p:cNvPr id="26" name="Text 18"/>
          <p:cNvSpPr/>
          <p:nvPr/>
        </p:nvSpPr>
        <p:spPr>
          <a:xfrm>
            <a:off x="5623560" y="2990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144768" y="29900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 </a:t>
            </a:r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feature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5623560" y="3502152"/>
            <a:ext cx="402336" cy="402336"/>
          </a:xfrm>
          <a:prstGeom prst="ellipse">
            <a:avLst/>
          </a:prstGeom>
          <a:solidFill>
            <a:srgbClr val="E08600"/>
          </a:solidFill>
          <a:ln/>
        </p:spPr>
      </p:sp>
      <p:sp>
        <p:nvSpPr>
          <p:cNvPr id="29" name="Text 21"/>
          <p:cNvSpPr/>
          <p:nvPr/>
        </p:nvSpPr>
        <p:spPr>
          <a:xfrm>
            <a:off x="5623560" y="3502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6144768" y="350215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 </a:t>
            </a:r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sandbox, keys, gates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5623560" y="4014216"/>
            <a:ext cx="402336" cy="402336"/>
          </a:xfrm>
          <a:prstGeom prst="ellipse">
            <a:avLst/>
          </a:prstGeom>
          <a:solidFill>
            <a:srgbClr val="1FA971"/>
          </a:solidFill>
          <a:ln/>
        </p:spPr>
      </p:sp>
      <p:sp>
        <p:nvSpPr>
          <p:cNvPr id="32" name="Text 24"/>
          <p:cNvSpPr/>
          <p:nvPr/>
        </p:nvSpPr>
        <p:spPr>
          <a:xfrm>
            <a:off x="5623560" y="4014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144768" y="40142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 </a:t>
            </a:r>
            <a:pPr indent="0" marL="0">
              <a:buNone/>
            </a:pPr>
            <a:r>
              <a:rPr lang="en-US" sz="105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evals + review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Safe Tutor, Built Spec-First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teachers as ADK sub-agents — one tutor that flexes by subject.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lives in code — a lexicon + classifier gate every single reply.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9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Spec-first with FORGE — Antigravity builds from specs and evals, not guesses.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a supervised prototype for one child — not a commercial launch yet.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0" y="8229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143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640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 series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72200" y="2148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@JayRajuSFAIInsights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72200" y="2697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→ Orchestrate → Render → Guard → Evaluate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watching — let's build carefully.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Minds - Build Walkthrough</dc:title>
  <dc:subject>PptxGenJS Presentation</dc:subject>
  <dc:creator>Jayavardhan Raju</dc:creator>
  <cp:lastModifiedBy>Jayavardhan Raju</cp:lastModifiedBy>
  <cp:revision>1</cp:revision>
  <dcterms:created xsi:type="dcterms:W3CDTF">2026-07-03T09:16:43Z</dcterms:created>
  <dcterms:modified xsi:type="dcterms:W3CDTF">2026-07-03T09:16:43Z</dcterms:modified>
</cp:coreProperties>
</file>